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Montserrat" charset="1" panose="00000500000000000000"/>
      <p:regular r:id="rId7"/>
    </p:embeddedFont>
    <p:embeddedFont>
      <p:font typeface="Montserrat Bold" charset="1" panose="00000800000000000000"/>
      <p:regular r:id="rId8"/>
    </p:embeddedFont>
    <p:embeddedFont>
      <p:font typeface="Montserrat Italics" charset="1" panose="000005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25798" y="0"/>
            <a:ext cx="2534202" cy="10692000"/>
            <a:chOff x="0" y="0"/>
            <a:chExt cx="908201" cy="38317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8201" cy="3831772"/>
            </a:xfrm>
            <a:custGeom>
              <a:avLst/>
              <a:gdLst/>
              <a:ahLst/>
              <a:cxnLst/>
              <a:rect r="r" b="b" t="t" l="l"/>
              <a:pathLst>
                <a:path h="3831772" w="908201">
                  <a:moveTo>
                    <a:pt x="0" y="0"/>
                  </a:moveTo>
                  <a:lnTo>
                    <a:pt x="908201" y="0"/>
                  </a:lnTo>
                  <a:lnTo>
                    <a:pt x="908201" y="3831772"/>
                  </a:lnTo>
                  <a:lnTo>
                    <a:pt x="0" y="3831772"/>
                  </a:lnTo>
                  <a:close/>
                </a:path>
              </a:pathLst>
            </a:custGeom>
            <a:solidFill>
              <a:srgbClr val="2B554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08201" cy="3860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43650" y="282608"/>
            <a:ext cx="1698497" cy="169849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 flipH="true">
            <a:off x="491772" y="1680622"/>
            <a:ext cx="411369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>
            <a:off x="474827" y="3298013"/>
            <a:ext cx="4113697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540878" y="3573347"/>
            <a:ext cx="0" cy="5798282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491772" y="3475134"/>
            <a:ext cx="98213" cy="9821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91772" y="5647866"/>
            <a:ext cx="98213" cy="9821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91772" y="7835263"/>
            <a:ext cx="98213" cy="9821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08716" y="1358733"/>
            <a:ext cx="4113697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spc="7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DIRECTOR GENERAL | ADMINISTRACIÓN DE EMPRESAS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91772" y="477486"/>
            <a:ext cx="4113697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194">
                <a:solidFill>
                  <a:srgbClr val="2B55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BRIAN AXEL GRYNSZPANCHOLC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91772" y="1792482"/>
            <a:ext cx="4113697" cy="100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367"/>
              </a:lnSpc>
            </a:pPr>
            <a:r>
              <a:rPr lang="en-US" sz="795" i="true" spc="16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Profesional con más de 25 años de experiencia en dirección general y administración de organizaciones del sector cambiario y de servicios. Mi propósito es contribuir al crecimiento y fortalecimiento de las organizaciones, aportando análisis, criterio y estrategias que impulsen procesos más eficientes, equipos más sólidos y resultados sostenibles a largo plazo.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0962" y="3045187"/>
            <a:ext cx="31320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2B55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</a:t>
            </a:r>
            <a:r>
              <a:rPr lang="en-US" b="true" sz="1200" u="none">
                <a:solidFill>
                  <a:srgbClr val="2B55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xperiencia Laboral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387344" y="2414927"/>
            <a:ext cx="1800602" cy="1748280"/>
            <a:chOff x="0" y="0"/>
            <a:chExt cx="2400803" cy="2331041"/>
          </a:xfrm>
        </p:grpSpPr>
        <p:sp>
          <p:nvSpPr>
            <p:cNvPr name="AutoShape 24" id="24"/>
            <p:cNvSpPr/>
            <p:nvPr/>
          </p:nvSpPr>
          <p:spPr>
            <a:xfrm flipH="true">
              <a:off x="16569" y="387350"/>
              <a:ext cx="2384233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5" id="25"/>
            <p:cNvGrpSpPr/>
            <p:nvPr/>
          </p:nvGrpSpPr>
          <p:grpSpPr>
            <a:xfrm rot="0">
              <a:off x="12231" y="637540"/>
              <a:ext cx="327490" cy="327490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0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12231" y="1094572"/>
              <a:ext cx="327490" cy="327490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0"/>
                  </a:lnSpc>
                </a:pPr>
              </a:p>
            </p:txBody>
          </p:sp>
        </p:grpSp>
        <p:sp>
          <p:nvSpPr>
            <p:cNvPr name="Freeform 31" id="31"/>
            <p:cNvSpPr/>
            <p:nvPr/>
          </p:nvSpPr>
          <p:spPr>
            <a:xfrm flipH="false" flipV="false" rot="0">
              <a:off x="94983" y="747294"/>
              <a:ext cx="165836" cy="127543"/>
            </a:xfrm>
            <a:custGeom>
              <a:avLst/>
              <a:gdLst/>
              <a:ahLst/>
              <a:cxnLst/>
              <a:rect r="r" b="b" t="t" l="l"/>
              <a:pathLst>
                <a:path h="127543" w="165836">
                  <a:moveTo>
                    <a:pt x="0" y="0"/>
                  </a:moveTo>
                  <a:lnTo>
                    <a:pt x="165836" y="0"/>
                  </a:lnTo>
                  <a:lnTo>
                    <a:pt x="165836" y="127543"/>
                  </a:lnTo>
                  <a:lnTo>
                    <a:pt x="0" y="127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2" id="32"/>
            <p:cNvGrpSpPr/>
            <p:nvPr/>
          </p:nvGrpSpPr>
          <p:grpSpPr>
            <a:xfrm rot="0">
              <a:off x="16569" y="1549061"/>
              <a:ext cx="327490" cy="327490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0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16569" y="2003551"/>
              <a:ext cx="327490" cy="327490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0"/>
                  </a:lnSpc>
                </a:pPr>
              </a:p>
            </p:txBody>
          </p:sp>
        </p:grpSp>
        <p:sp>
          <p:nvSpPr>
            <p:cNvPr name="Freeform 38" id="38"/>
            <p:cNvSpPr/>
            <p:nvPr/>
          </p:nvSpPr>
          <p:spPr>
            <a:xfrm flipH="false" flipV="false" rot="0">
              <a:off x="120297" y="1631963"/>
              <a:ext cx="117884" cy="161687"/>
            </a:xfrm>
            <a:custGeom>
              <a:avLst/>
              <a:gdLst/>
              <a:ahLst/>
              <a:cxnLst/>
              <a:rect r="r" b="b" t="t" l="l"/>
              <a:pathLst>
                <a:path h="161687" w="117884">
                  <a:moveTo>
                    <a:pt x="0" y="0"/>
                  </a:moveTo>
                  <a:lnTo>
                    <a:pt x="117885" y="0"/>
                  </a:lnTo>
                  <a:lnTo>
                    <a:pt x="117885" y="161687"/>
                  </a:lnTo>
                  <a:lnTo>
                    <a:pt x="0" y="161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94983" y="2086852"/>
              <a:ext cx="170662" cy="170662"/>
            </a:xfrm>
            <a:custGeom>
              <a:avLst/>
              <a:gdLst/>
              <a:ahLst/>
              <a:cxnLst/>
              <a:rect r="r" b="b" t="t" l="l"/>
              <a:pathLst>
                <a:path h="170662" w="170662">
                  <a:moveTo>
                    <a:pt x="0" y="0"/>
                  </a:moveTo>
                  <a:lnTo>
                    <a:pt x="170662" y="0"/>
                  </a:lnTo>
                  <a:lnTo>
                    <a:pt x="170662" y="170662"/>
                  </a:lnTo>
                  <a:lnTo>
                    <a:pt x="0" y="170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74930" y="1178013"/>
              <a:ext cx="210769" cy="167849"/>
            </a:xfrm>
            <a:custGeom>
              <a:avLst/>
              <a:gdLst/>
              <a:ahLst/>
              <a:cxnLst/>
              <a:rect r="r" b="b" t="t" l="l"/>
              <a:pathLst>
                <a:path h="167849" w="210769">
                  <a:moveTo>
                    <a:pt x="0" y="0"/>
                  </a:moveTo>
                  <a:lnTo>
                    <a:pt x="210769" y="0"/>
                  </a:lnTo>
                  <a:lnTo>
                    <a:pt x="210769" y="167848"/>
                  </a:lnTo>
                  <a:lnTo>
                    <a:pt x="0" y="167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 rot="0">
              <a:off x="495704" y="1176634"/>
              <a:ext cx="1536000" cy="1539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84"/>
                </a:lnSpc>
                <a:spcBef>
                  <a:spcPct val="0"/>
                </a:spcBef>
              </a:pPr>
              <a:r>
                <a:rPr lang="en-US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Licencia de conducir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495704" y="720872"/>
              <a:ext cx="1645161" cy="1539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84"/>
                </a:lnSpc>
                <a:spcBef>
                  <a:spcPct val="0"/>
                </a:spcBef>
              </a:pPr>
              <a:r>
                <a:rPr lang="en-US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brianaxel@gmail.com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495704" y="1627279"/>
              <a:ext cx="1536000" cy="1539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84"/>
                </a:lnSpc>
                <a:spcBef>
                  <a:spcPct val="0"/>
                </a:spcBef>
              </a:pPr>
              <a:r>
                <a:rPr lang="en-US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+54 </a:t>
              </a:r>
              <a:r>
                <a:rPr lang="en-US" sz="800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9 11 4440 2484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495704" y="2092646"/>
              <a:ext cx="1536000" cy="1539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84"/>
                </a:lnSpc>
                <a:spcBef>
                  <a:spcPct val="0"/>
                </a:spcBef>
              </a:pPr>
              <a:r>
                <a:rPr lang="en-US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Buenos Aires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0" y="-19050"/>
              <a:ext cx="2396465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  <a:r>
                <a:rPr lang="en-US" b="true" sz="12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Contacto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751508" y="3431363"/>
            <a:ext cx="3837016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0"/>
              </a:lnSpc>
              <a:spcBef>
                <a:spcPct val="0"/>
              </a:spcBef>
            </a:pPr>
            <a:r>
              <a:rPr lang="en-US" b="true" sz="900">
                <a:solidFill>
                  <a:srgbClr val="2B55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Director General</a:t>
            </a:r>
            <a:r>
              <a:rPr lang="en-US" sz="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| Cambio Platinum S.A. (2007 – actualidad)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51508" y="3662147"/>
            <a:ext cx="3837016" cy="184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2721" indent="-86360" lvl="1">
              <a:lnSpc>
                <a:spcPts val="1496"/>
              </a:lnSpc>
              <a:spcBef>
                <a:spcPct val="0"/>
              </a:spcBef>
              <a:buFont typeface="Arial"/>
              <a:buChar char="•"/>
            </a:pPr>
            <a:r>
              <a:rPr lang="en-US" sz="8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Dirección estratégica del negocio cambiario.</a:t>
            </a:r>
          </a:p>
          <a:p>
            <a:pPr algn="l" marL="172721" indent="-86360" lvl="1">
              <a:lnSpc>
                <a:spcPts val="1496"/>
              </a:lnSpc>
              <a:spcBef>
                <a:spcPct val="0"/>
              </a:spcBef>
              <a:buFont typeface="Arial"/>
              <a:buChar char="•"/>
            </a:pPr>
            <a:r>
              <a:rPr lang="en-US" sz="8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Coordinación de operaciones financieras.</a:t>
            </a:r>
          </a:p>
          <a:p>
            <a:pPr algn="l" marL="172721" indent="-86360" lvl="1">
              <a:lnSpc>
                <a:spcPts val="1496"/>
              </a:lnSpc>
              <a:spcBef>
                <a:spcPct val="0"/>
              </a:spcBef>
              <a:buFont typeface="Arial"/>
              <a:buChar char="•"/>
            </a:pPr>
            <a:r>
              <a:rPr lang="en-US" sz="8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Supervisión de equipos administrativos y comerciales.</a:t>
            </a:r>
          </a:p>
          <a:p>
            <a:pPr algn="l" marL="172721" indent="-86360" lvl="1">
              <a:lnSpc>
                <a:spcPts val="1496"/>
              </a:lnSpc>
              <a:spcBef>
                <a:spcPct val="0"/>
              </a:spcBef>
              <a:buFont typeface="Arial"/>
              <a:buChar char="•"/>
            </a:pPr>
            <a:r>
              <a:rPr lang="en-US" sz="8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Toma de decisiones sobre servicios, flujo operativo y cumplimiento regulatorio.</a:t>
            </a:r>
          </a:p>
          <a:p>
            <a:pPr algn="l" marL="172721" indent="-86360" lvl="1">
              <a:lnSpc>
                <a:spcPts val="1496"/>
              </a:lnSpc>
              <a:spcBef>
                <a:spcPct val="0"/>
              </a:spcBef>
              <a:buFont typeface="Arial"/>
              <a:buChar char="•"/>
            </a:pPr>
            <a:r>
              <a:rPr lang="en-US" sz="8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Gestión de relaciones institucionales y acuerdos comerciales.</a:t>
            </a:r>
          </a:p>
          <a:p>
            <a:pPr algn="l" marL="172721" indent="-86360" lvl="1">
              <a:lnSpc>
                <a:spcPts val="1496"/>
              </a:lnSpc>
              <a:spcBef>
                <a:spcPct val="0"/>
              </a:spcBef>
              <a:buFont typeface="Arial"/>
              <a:buChar char="•"/>
            </a:pPr>
            <a:r>
              <a:rPr lang="en-US" sz="8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Planificación y control de indicadores clave de gestión (KPIs).</a:t>
            </a:r>
          </a:p>
          <a:p>
            <a:pPr algn="l" marL="172721" indent="-86360" lvl="1">
              <a:lnSpc>
                <a:spcPts val="1496"/>
              </a:lnSpc>
              <a:spcBef>
                <a:spcPct val="0"/>
              </a:spcBef>
              <a:buFont typeface="Arial"/>
              <a:buChar char="•"/>
            </a:pPr>
            <a:r>
              <a:rPr lang="en-US" sz="8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Optimización de procesos para mejorar eficiencia y reducir riesgos.</a:t>
            </a:r>
          </a:p>
          <a:p>
            <a:pPr algn="l" marL="172721" indent="-86360" lvl="1">
              <a:lnSpc>
                <a:spcPts val="1496"/>
              </a:lnSpc>
              <a:spcBef>
                <a:spcPct val="0"/>
              </a:spcBef>
              <a:buFont typeface="Arial"/>
              <a:buChar char="•"/>
            </a:pPr>
            <a:r>
              <a:rPr lang="en-US" sz="8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Coordinación con auditorías internas y externas para el control operativo.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5387344" y="4588325"/>
            <a:ext cx="1797349" cy="779868"/>
            <a:chOff x="0" y="0"/>
            <a:chExt cx="2396465" cy="1039824"/>
          </a:xfrm>
        </p:grpSpPr>
        <p:sp>
          <p:nvSpPr>
            <p:cNvPr name="AutoShape 49" id="49"/>
            <p:cNvSpPr/>
            <p:nvPr/>
          </p:nvSpPr>
          <p:spPr>
            <a:xfrm flipH="true">
              <a:off x="0" y="251406"/>
              <a:ext cx="2384233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0" id="50"/>
            <p:cNvSpPr txBox="true"/>
            <p:nvPr/>
          </p:nvSpPr>
          <p:spPr>
            <a:xfrm rot="0">
              <a:off x="0" y="-19050"/>
              <a:ext cx="2396465" cy="2577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  <a:r>
                <a:rPr lang="en-US" b="true" sz="12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Educación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0" y="416506"/>
              <a:ext cx="2384233" cy="6233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304"/>
                </a:lnSpc>
              </a:pPr>
              <a:r>
                <a:rPr lang="en-US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Licenciatura en Administración de Empresas | Universidad de Belgrano (finalizado, 1996)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343912" y="5876158"/>
            <a:ext cx="1884213" cy="438785"/>
            <a:chOff x="0" y="0"/>
            <a:chExt cx="2512284" cy="585047"/>
          </a:xfrm>
        </p:grpSpPr>
        <p:sp>
          <p:nvSpPr>
            <p:cNvPr name="AutoShape 53" id="53"/>
            <p:cNvSpPr/>
            <p:nvPr/>
          </p:nvSpPr>
          <p:spPr>
            <a:xfrm flipH="true">
              <a:off x="0" y="276860"/>
              <a:ext cx="2384233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4" id="54"/>
            <p:cNvSpPr txBox="true"/>
            <p:nvPr/>
          </p:nvSpPr>
          <p:spPr>
            <a:xfrm rot="0">
              <a:off x="0" y="-19050"/>
              <a:ext cx="2396465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  <a:r>
                <a:rPr lang="en-US" b="true" sz="12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Idiomas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0" y="381635"/>
              <a:ext cx="2512284" cy="2034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172721" indent="-86360" lvl="1">
                <a:lnSpc>
                  <a:spcPts val="1440"/>
                </a:lnSpc>
                <a:buFont typeface="Arial"/>
                <a:buChar char="•"/>
              </a:pPr>
              <a:r>
                <a:rPr lang="en-US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Inglés | nivel avanzado 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348499" y="6681195"/>
            <a:ext cx="1801935" cy="969562"/>
            <a:chOff x="0" y="0"/>
            <a:chExt cx="2402580" cy="1292750"/>
          </a:xfrm>
        </p:grpSpPr>
        <p:sp>
          <p:nvSpPr>
            <p:cNvPr name="AutoShape 57" id="57"/>
            <p:cNvSpPr/>
            <p:nvPr/>
          </p:nvSpPr>
          <p:spPr>
            <a:xfrm flipH="true">
              <a:off x="0" y="302260"/>
              <a:ext cx="2384233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8" id="58"/>
            <p:cNvSpPr txBox="true"/>
            <p:nvPr/>
          </p:nvSpPr>
          <p:spPr>
            <a:xfrm rot="0">
              <a:off x="6116" y="-19050"/>
              <a:ext cx="2396465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  <a:r>
                <a:rPr lang="en-US" b="true" sz="12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Informática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6116" y="416560"/>
              <a:ext cx="2378118" cy="8761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172721" indent="-86360" lvl="1">
                <a:lnSpc>
                  <a:spcPts val="1344"/>
                </a:lnSpc>
                <a:buFont typeface="Arial"/>
                <a:buChar char="•"/>
              </a:pPr>
              <a:r>
                <a:rPr lang="en-US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Microsoft Office | nivel intermedio </a:t>
              </a:r>
            </a:p>
            <a:p>
              <a:pPr algn="l" marL="172721" indent="-86360" lvl="1">
                <a:lnSpc>
                  <a:spcPts val="1344"/>
                </a:lnSpc>
                <a:buFont typeface="Arial"/>
                <a:buChar char="•"/>
              </a:pPr>
              <a:r>
                <a:rPr lang="en-US" sz="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Google Workspace | nivel intermedio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751508" y="5613153"/>
            <a:ext cx="3837016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0"/>
              </a:lnSpc>
              <a:spcBef>
                <a:spcPct val="0"/>
              </a:spcBef>
            </a:pPr>
            <a:r>
              <a:rPr lang="en-US" b="true" sz="900">
                <a:solidFill>
                  <a:srgbClr val="2B55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Director General</a:t>
            </a:r>
            <a:r>
              <a:rPr lang="en-US" sz="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| La Mirage – Lenis Corp S.A. (1996 – actualidad)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51508" y="5845927"/>
            <a:ext cx="3837016" cy="184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2721" indent="-86360" lvl="1">
              <a:lnSpc>
                <a:spcPts val="1496"/>
              </a:lnSpc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Residencia asistida para la tercera edad, 30 años liderando el sector con hoteleria 5 estrellas.</a:t>
            </a:r>
          </a:p>
          <a:p>
            <a:pPr algn="l" marL="172721" indent="-86360" lvl="1">
              <a:lnSpc>
                <a:spcPts val="1496"/>
              </a:lnSpc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Administ</a:t>
            </a:r>
            <a:r>
              <a:rPr lang="en-US" sz="8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ración integral de la institución.</a:t>
            </a:r>
          </a:p>
          <a:p>
            <a:pPr algn="l" marL="172721" indent="-86360" lvl="1">
              <a:lnSpc>
                <a:spcPts val="1496"/>
              </a:lnSpc>
              <a:buFont typeface="Arial"/>
              <a:buChar char="•"/>
            </a:pPr>
            <a:r>
              <a:rPr lang="en-US" sz="8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Supervisión de personal y coordinación de servicios asistenciales.</a:t>
            </a:r>
          </a:p>
          <a:p>
            <a:pPr algn="l" marL="172721" indent="-86360" lvl="1">
              <a:lnSpc>
                <a:spcPts val="1496"/>
              </a:lnSpc>
              <a:buFont typeface="Arial"/>
              <a:buChar char="•"/>
            </a:pPr>
            <a:r>
              <a:rPr lang="en-US" sz="8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Organización de procesos internos y control de indicadores de calidad.</a:t>
            </a:r>
          </a:p>
          <a:p>
            <a:pPr algn="l" marL="172721" indent="-86360" lvl="1">
              <a:lnSpc>
                <a:spcPts val="1496"/>
              </a:lnSpc>
              <a:buFont typeface="Arial"/>
              <a:buChar char="•"/>
            </a:pPr>
            <a:r>
              <a:rPr lang="en-US" sz="8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Gestión presupuestaria y planificación operativa.</a:t>
            </a:r>
          </a:p>
          <a:p>
            <a:pPr algn="l" marL="172721" indent="-86360" lvl="1">
              <a:lnSpc>
                <a:spcPts val="1496"/>
              </a:lnSpc>
              <a:buFont typeface="Arial"/>
              <a:buChar char="•"/>
            </a:pPr>
            <a:r>
              <a:rPr lang="en-US" sz="8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Coordinación de proveedores, mantenimiento e infraestructura.</a:t>
            </a:r>
          </a:p>
          <a:p>
            <a:pPr algn="l" marL="172721" indent="-86360" lvl="1">
              <a:lnSpc>
                <a:spcPts val="1496"/>
              </a:lnSpc>
              <a:buFont typeface="Arial"/>
              <a:buChar char="•"/>
            </a:pPr>
            <a:r>
              <a:rPr lang="en-US" sz="8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Implementación y seguimiento de políticas y procedimientos internos.</a:t>
            </a:r>
          </a:p>
          <a:p>
            <a:pPr algn="l" marL="172721" indent="-86360" lvl="1">
              <a:lnSpc>
                <a:spcPts val="1496"/>
              </a:lnSpc>
              <a:buFont typeface="Arial"/>
              <a:buChar char="•"/>
            </a:pPr>
            <a:r>
              <a:rPr lang="en-US" sz="8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Gestión de documentación institucional y cumplimiento normativo.</a:t>
            </a:r>
          </a:p>
          <a:p>
            <a:pPr algn="l" marL="172721" indent="-86360" lvl="1">
              <a:lnSpc>
                <a:spcPts val="1496"/>
              </a:lnSpc>
              <a:buFont typeface="Arial"/>
              <a:buChar char="•"/>
            </a:pPr>
            <a:r>
              <a:rPr lang="en-US" sz="8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Coordinación de auditorías y acciones de mejora continua.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51508" y="7816213"/>
            <a:ext cx="3837016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0"/>
              </a:lnSpc>
              <a:spcBef>
                <a:spcPct val="0"/>
              </a:spcBef>
            </a:pPr>
            <a:r>
              <a:rPr lang="en-US" b="true" sz="900">
                <a:solidFill>
                  <a:srgbClr val="2B55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Director General </a:t>
            </a:r>
            <a:r>
              <a:rPr lang="en-US" sz="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| Cambio Topaz S.R.L. (1993 – 2004)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51508" y="8000152"/>
            <a:ext cx="3837016" cy="146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2721" indent="-86360" lvl="1">
              <a:lnSpc>
                <a:spcPts val="1496"/>
              </a:lnSpc>
              <a:spcBef>
                <a:spcPct val="0"/>
              </a:spcBef>
              <a:buFont typeface="Arial"/>
              <a:buChar char="•"/>
            </a:pPr>
            <a:r>
              <a:rPr lang="en-US" sz="8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Gestión integral del negocio cambiario.</a:t>
            </a:r>
          </a:p>
          <a:p>
            <a:pPr algn="l" marL="172721" indent="-86360" lvl="1">
              <a:lnSpc>
                <a:spcPts val="1496"/>
              </a:lnSpc>
              <a:spcBef>
                <a:spcPct val="0"/>
              </a:spcBef>
              <a:buFont typeface="Arial"/>
              <a:buChar char="•"/>
            </a:pPr>
            <a:r>
              <a:rPr lang="en-US" sz="8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Control de operaciones y flujos financieros.</a:t>
            </a:r>
          </a:p>
          <a:p>
            <a:pPr algn="l" marL="172721" indent="-86360" lvl="1">
              <a:lnSpc>
                <a:spcPts val="1496"/>
              </a:lnSpc>
              <a:spcBef>
                <a:spcPct val="0"/>
              </a:spcBef>
              <a:buFont typeface="Arial"/>
              <a:buChar char="•"/>
            </a:pPr>
            <a:r>
              <a:rPr lang="en-US" sz="8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Dirección de equipos administrativos y de atención al público.</a:t>
            </a:r>
          </a:p>
          <a:p>
            <a:pPr algn="l" marL="172721" indent="-86360" lvl="1">
              <a:lnSpc>
                <a:spcPts val="1496"/>
              </a:lnSpc>
              <a:spcBef>
                <a:spcPct val="0"/>
              </a:spcBef>
              <a:buFont typeface="Arial"/>
              <a:buChar char="•"/>
            </a:pPr>
            <a:r>
              <a:rPr lang="en-US" sz="8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Supervisión de cumplimiento normativo.</a:t>
            </a:r>
          </a:p>
          <a:p>
            <a:pPr algn="l" marL="172721" indent="-86360" lvl="1">
              <a:lnSpc>
                <a:spcPts val="1496"/>
              </a:lnSpc>
              <a:spcBef>
                <a:spcPct val="0"/>
              </a:spcBef>
              <a:buFont typeface="Arial"/>
              <a:buChar char="•"/>
            </a:pPr>
            <a:r>
              <a:rPr lang="en-US" sz="8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Administración de caja, balances y reportes.</a:t>
            </a:r>
          </a:p>
          <a:p>
            <a:pPr algn="l" marL="172721" indent="-86360" lvl="1">
              <a:lnSpc>
                <a:spcPts val="1496"/>
              </a:lnSpc>
              <a:spcBef>
                <a:spcPct val="0"/>
              </a:spcBef>
              <a:buFont typeface="Arial"/>
              <a:buChar char="•"/>
            </a:pPr>
            <a:r>
              <a:rPr lang="en-US" sz="8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Coordinación de procesos internos y optimización operativa.</a:t>
            </a:r>
          </a:p>
          <a:p>
            <a:pPr algn="l" marL="172721" indent="-86360" lvl="1">
              <a:lnSpc>
                <a:spcPts val="1496"/>
              </a:lnSpc>
              <a:spcBef>
                <a:spcPct val="0"/>
              </a:spcBef>
              <a:buFont typeface="Arial"/>
              <a:buChar char="•"/>
            </a:pPr>
            <a:r>
              <a:rPr lang="en-US" sz="8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Elaboración y seguimiento de indicadores de gestión (KPIs).</a:t>
            </a:r>
          </a:p>
          <a:p>
            <a:pPr algn="l" marL="172721" indent="-86360" lvl="1">
              <a:lnSpc>
                <a:spcPts val="1496"/>
              </a:lnSpc>
              <a:spcBef>
                <a:spcPct val="0"/>
              </a:spcBef>
              <a:buFont typeface="Arial"/>
              <a:buChar char="•"/>
            </a:pPr>
            <a:r>
              <a:rPr lang="en-US" sz="8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Vinculación con entidades financieras y organismos de control.</a:t>
            </a:r>
          </a:p>
        </p:txBody>
      </p:sp>
      <p:sp>
        <p:nvSpPr>
          <p:cNvPr name="AutoShape 64" id="64"/>
          <p:cNvSpPr/>
          <p:nvPr/>
        </p:nvSpPr>
        <p:spPr>
          <a:xfrm flipH="true">
            <a:off x="5348499" y="8087967"/>
            <a:ext cx="1788175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5" id="65"/>
          <p:cNvSpPr txBox="true"/>
          <p:nvPr/>
        </p:nvSpPr>
        <p:spPr>
          <a:xfrm rot="0">
            <a:off x="5339325" y="7849657"/>
            <a:ext cx="1797349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Competencias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348499" y="8162057"/>
            <a:ext cx="1884213" cy="1002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2721" indent="-86360" lvl="1">
              <a:lnSpc>
                <a:spcPts val="1368"/>
              </a:lnSpc>
              <a:buFont typeface="Arial"/>
              <a:buChar char="•"/>
            </a:pPr>
            <a:r>
              <a:rPr lang="en-US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Adaptabilidad</a:t>
            </a:r>
          </a:p>
          <a:p>
            <a:pPr algn="l" marL="172721" indent="-86360" lvl="1">
              <a:lnSpc>
                <a:spcPts val="1368"/>
              </a:lnSpc>
              <a:buFont typeface="Arial"/>
              <a:buChar char="•"/>
            </a:pPr>
            <a:r>
              <a:rPr lang="en-US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Capacidad para trabajar en entornos multiculturales</a:t>
            </a:r>
          </a:p>
          <a:p>
            <a:pPr algn="l" marL="172721" indent="-86360" lvl="1">
              <a:lnSpc>
                <a:spcPts val="1368"/>
              </a:lnSpc>
              <a:buFont typeface="Arial"/>
              <a:buChar char="•"/>
            </a:pPr>
            <a:r>
              <a:rPr lang="en-US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Comunicación efectiva</a:t>
            </a:r>
          </a:p>
          <a:p>
            <a:pPr algn="l" marL="172721" indent="-86360" lvl="1">
              <a:lnSpc>
                <a:spcPts val="1368"/>
              </a:lnSpc>
              <a:buFont typeface="Arial"/>
              <a:buChar char="•"/>
            </a:pPr>
            <a:r>
              <a:rPr lang="en-US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Liderazgo</a:t>
            </a:r>
          </a:p>
          <a:p>
            <a:pPr algn="l" marL="172721" indent="-86360" lvl="1">
              <a:lnSpc>
                <a:spcPts val="1368"/>
              </a:lnSpc>
              <a:buFont typeface="Arial"/>
              <a:buChar char="•"/>
            </a:pPr>
            <a:r>
              <a:rPr lang="en-US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Negociación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491772" y="9371629"/>
            <a:ext cx="98213" cy="98213"/>
            <a:chOff x="0" y="0"/>
            <a:chExt cx="812800" cy="812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DAG7rZJGnrs</dc:identifier>
  <dcterms:modified xsi:type="dcterms:W3CDTF">2011-08-01T06:04:30Z</dcterms:modified>
  <cp:revision>1</cp:revision>
  <dc:title>Plantillas originales</dc:title>
</cp:coreProperties>
</file>