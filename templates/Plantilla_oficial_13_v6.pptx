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roxima nova"/>
    </p:embeddedFont>
    <p:embeddedFont>
      <p:font typeface="Poppins"/>
      <p:regular r:id="rId5"/>
      <p:bold r:id="rId5"/>
    </p:embeddedFont>
    <p:embeddedFont>
      <p:font typeface="Montserrat"/>
      <p:regular r:id="rId6"/>
      <p:bold r:id="rId6"/>
    </p:embeddedFont>
    <p:embeddedFont>
      <p:font typeface="Microsoft YaHei"/>
      <p:regular r:id="rId7"/>
    </p:embeddedFont>
    <p:embeddedFont>
      <p:font typeface="Garet"/>
      <p:regular r:id="rId8"/>
      <p:bold r:id="rId8"/>
    </p:embeddedFont>
    <p:embeddedFont>
      <p:font typeface="Montserrat Bold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oppins_Regular.fntdata"/><Relationship Id="rId6" Type="http://schemas.openxmlformats.org/officeDocument/2006/relationships/font" Target="fonts/Font_2_Montserrat_Regular.fntdata"/><Relationship Id="rId7" Type="http://schemas.openxmlformats.org/officeDocument/2006/relationships/font" Target="fonts/Font_3_Microsoft_YaHei_Regular.fntdata"/><Relationship Id="rId8" Type="http://schemas.openxmlformats.org/officeDocument/2006/relationships/font" Target="fonts/Font_4_Gare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040" cy="114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652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040" cy="467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679D78-400A-41B5-AC16-8736D606A0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1280" cy="55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1280" cy="409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1280" cy="7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D7C6F3-C2D7-4BDC-BC3F-BB2514D09F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7280" cy="14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A26DFA-7C5C-49DB-8AE9-454308E2D0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448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3F89ED-B67A-4DBE-964D-0941EEBA4D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228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4800" cy="583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1B4329-0691-417C-846E-55B9C72A68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448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A5D644-5E91-41F1-BB95-F1C754BFC7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7280" cy="13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7280" cy="14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C1897B-6CA5-4424-AA76-654A158194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336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3360" cy="451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B9D6F5-051F-4D0B-B55C-15DA882220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16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160" cy="39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6600" cy="62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6600" cy="39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841CF6-8D9E-4209-931F-35DAE799A7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448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E8F541-CEBD-41BC-A768-F80A5C6436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036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8600" cy="3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6E30C7-441F-4B32-B38F-E004F45165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3360" cy="505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3360" cy="175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4"/>
          <p:cNvGrpSpPr/>
          <p:nvPr/>
        </p:nvGrpSpPr>
        <p:grpSpPr>
          <a:xfrm>
            <a:off x="753480" y="8103600"/>
            <a:ext cx="19896120" cy="11880"/>
            <a:chOff x="753480" y="8103600"/>
            <a:chExt cx="19896120" cy="11880"/>
          </a:xfrm>
        </p:grpSpPr>
        <p:sp>
          <p:nvSpPr>
            <p:cNvPr id="62" name="Freeform 5"/>
            <p:cNvSpPr/>
            <p:nvPr/>
          </p:nvSpPr>
          <p:spPr>
            <a:xfrm>
              <a:off x="753480" y="8103600"/>
              <a:ext cx="19896120" cy="11880"/>
            </a:xfrm>
            <a:custGeom>
              <a:avLst/>
              <a:gdLst>
                <a:gd name="textAreaLeft" fmla="*/ 0 w 19896120"/>
                <a:gd name="textAreaRight" fmla="*/ 19911240 w 19896120"/>
                <a:gd name="textAreaTop" fmla="*/ 0 h 11880"/>
                <a:gd name="textAreaBottom" fmla="*/ 27000 h 11880"/>
              </a:gdLst>
              <a:ahLst/>
              <a:cxnLst/>
              <a:rect l="textAreaLeft" t="textAreaTop" r="textAreaRight" b="textAreaBottom"/>
              <a:pathLst>
                <a:path w="26548335" h="35941">
                  <a:moveTo>
                    <a:pt x="0" y="0"/>
                  </a:moveTo>
                  <a:lnTo>
                    <a:pt x="26548335" y="0"/>
                  </a:lnTo>
                  <a:lnTo>
                    <a:pt x="26548335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16"/>
          <p:cNvSpPr/>
          <p:nvPr/>
        </p:nvSpPr>
        <p:spPr>
          <a:xfrm>
            <a:off x="740160" y="7399080"/>
            <a:ext cx="1513116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30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EXPERIENCIA LABORAL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25"/>
          <p:cNvGrpSpPr/>
          <p:nvPr/>
        </p:nvGrpSpPr>
        <p:grpSpPr>
          <a:xfrm>
            <a:off x="726840" y="7884360"/>
            <a:ext cx="20089440" cy="8451360"/>
            <a:chOff x="726840" y="7884360"/>
            <a:chExt cx="20089440" cy="8451360"/>
          </a:xfrm>
        </p:grpSpPr>
        <p:sp>
          <p:nvSpPr>
            <p:cNvPr id="65" name="TextBox 26"/>
            <p:cNvSpPr/>
            <p:nvPr/>
          </p:nvSpPr>
          <p:spPr>
            <a:xfrm>
              <a:off x="778680" y="8468280"/>
              <a:ext cx="14717880" cy="188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3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27"/>
            <p:cNvSpPr/>
            <p:nvPr/>
          </p:nvSpPr>
          <p:spPr>
            <a:xfrm>
              <a:off x="726840" y="7884360"/>
              <a:ext cx="20089440" cy="845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470"/>
                </a:lnSpc>
              </a:pPr>
              <a:r>
                <a:rPr lang="en-US" sz="25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Garet"/>
                </a:rPr>
                <a:t>[[EXPERIENCE_BLOCK]]</a:t>
              </a:r>
              <a:endParaRPr lang="es-AR" sz="2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69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{{exp_1_role}}</a:t>
              </a: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8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{{exp_1_company}}   {{exp_1_dates}}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35"/>
                </a:lnSpc>
              </a:pPr>
              <a:r>
                <a:rPr lang="es-AR" sz="32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{{exp_1_bullets_block}}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984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{{exp_2_role}}</a:t>
              </a: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8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{{exp_2_company}}   {{exp_2_dates}}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35"/>
                </a:lnSpc>
              </a:pPr>
              <a:r>
                <a:rPr lang="es-AR" sz="32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{{exp_2_bullets_block}}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984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{{exp_3_role}}</a:t>
              </a: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8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{{exp_3_company}}   {{exp_3_dates}}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35"/>
                </a:lnSpc>
              </a:pPr>
              <a:r>
                <a:rPr lang="es-AR" sz="32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{{exp_3_bullets_block}}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701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{{exp_4_role}}</a:t>
              </a: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8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{{exp_4_company}}   {{exp_3_dates}}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35"/>
                </a:lnSpc>
              </a:pPr>
              <a:r>
                <a:rPr lang="es-AR" sz="32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{{exp_4_bullets_block}}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701"/>
                </a:lnSpc>
              </a:pP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386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{{exp_5_role}}</a:t>
              </a: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8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{{exp_5_company}}   {{exp_5_dates}}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535"/>
                </a:lnSpc>
              </a:pPr>
              <a:r>
                <a:rPr lang="es-AR" sz="32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{{exp_5_bullets_block}}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28"/>
            <p:cNvSpPr/>
            <p:nvPr/>
          </p:nvSpPr>
          <p:spPr>
            <a:xfrm>
              <a:off x="3111840" y="7884360"/>
              <a:ext cx="12520080" cy="46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77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oup 2"/>
          <p:cNvGrpSpPr/>
          <p:nvPr/>
        </p:nvGrpSpPr>
        <p:grpSpPr>
          <a:xfrm>
            <a:off x="736920" y="4809240"/>
            <a:ext cx="19822320" cy="15120"/>
            <a:chOff x="736920" y="4809240"/>
            <a:chExt cx="19822320" cy="15120"/>
          </a:xfrm>
        </p:grpSpPr>
        <p:sp>
          <p:nvSpPr>
            <p:cNvPr id="69" name="Freeform 2"/>
            <p:cNvSpPr/>
            <p:nvPr/>
          </p:nvSpPr>
          <p:spPr>
            <a:xfrm>
              <a:off x="736920" y="4809240"/>
              <a:ext cx="19822320" cy="15120"/>
            </a:xfrm>
            <a:custGeom>
              <a:avLst/>
              <a:gdLst>
                <a:gd name="textAreaLeft" fmla="*/ 0 w 19822320"/>
                <a:gd name="textAreaRight" fmla="*/ 19834200 w 19822320"/>
                <a:gd name="textAreaTop" fmla="*/ 0 h 15120"/>
                <a:gd name="textAreaBottom" fmla="*/ 27000 h 15120"/>
              </a:gdLst>
              <a:ahLst/>
              <a:cxnLst/>
              <a:rect l="textAreaLeft" t="textAreaTop" r="textAreaRight" b="textAreaBottom"/>
              <a:pathLst>
                <a:path w="26445718" h="35941">
                  <a:moveTo>
                    <a:pt x="0" y="0"/>
                  </a:moveTo>
                  <a:lnTo>
                    <a:pt x="26445718" y="0"/>
                  </a:lnTo>
                  <a:lnTo>
                    <a:pt x="264457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14"/>
          <p:cNvSpPr/>
          <p:nvPr/>
        </p:nvSpPr>
        <p:spPr>
          <a:xfrm>
            <a:off x="736920" y="3936240"/>
            <a:ext cx="1305972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PERFIL PROFESIONAL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736920" y="4929120"/>
            <a:ext cx="19804320" cy="4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64"/>
              </a:lnSpc>
            </a:pPr>
            <a:r>
              <a:rPr lang="en-US" sz="269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endParaRPr lang="es-AR" sz="2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6"/>
          <p:cNvSpPr/>
          <p:nvPr/>
        </p:nvSpPr>
        <p:spPr>
          <a:xfrm>
            <a:off x="0" y="360720"/>
            <a:ext cx="9602280" cy="3394440"/>
          </a:xfrm>
          <a:custGeom>
            <a:avLst/>
            <a:gdLst>
              <a:gd name="textAreaLeft" fmla="*/ 0 w 9602280"/>
              <a:gd name="textAreaRight" fmla="*/ 9617400 w 9602280"/>
              <a:gd name="textAreaTop" fmla="*/ 0 h 3394440"/>
              <a:gd name="textAreaBottom" fmla="*/ 3409200 h 3394440"/>
            </a:gdLst>
            <a:ahLst/>
            <a:cxnLst/>
            <a:rect l="textAreaLeft" t="textAreaTop" r="textAreaRight" b="textAreaBottom"/>
            <a:pathLst>
              <a:path w="9617439" h="4035127">
                <a:moveTo>
                  <a:pt x="0" y="0"/>
                </a:moveTo>
                <a:lnTo>
                  <a:pt x="9617439" y="0"/>
                </a:lnTo>
                <a:lnTo>
                  <a:pt x="9617439" y="4035128"/>
                </a:lnTo>
                <a:lnTo>
                  <a:pt x="0" y="4035128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7"/>
          <p:cNvSpPr/>
          <p:nvPr/>
        </p:nvSpPr>
        <p:spPr>
          <a:xfrm>
            <a:off x="12780000" y="995040"/>
            <a:ext cx="827532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791"/>
              </a:lnSpc>
            </a:pPr>
            <a:r>
              <a:rPr lang="en-US" sz="526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{{name}}</a:t>
            </a:r>
            <a:endParaRPr lang="es-AR" sz="5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366"/>
              </a:lnSpc>
            </a:pPr>
            <a:r>
              <a:rPr lang="en-US" sz="32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Bold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1"/>
          <p:cNvSpPr/>
          <p:nvPr/>
        </p:nvSpPr>
        <p:spPr>
          <a:xfrm>
            <a:off x="7553520" y="39600"/>
            <a:ext cx="26935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280360" y="1080"/>
            <a:ext cx="3767040" cy="3767040"/>
          </a:xfrm>
          <a:prstGeom prst="flowChartConnector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100000" y="-16560"/>
            <a:ext cx="3047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2"/>
          <p:cNvSpPr/>
          <p:nvPr/>
        </p:nvSpPr>
        <p:spPr>
          <a:xfrm>
            <a:off x="540360" y="720360"/>
            <a:ext cx="7196040" cy="20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41"/>
              </a:lnSpc>
            </a:pPr>
            <a:r>
              <a:rPr lang="en-US" sz="283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{{contact_phone}}</a:t>
            </a: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{{contact_location}}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41"/>
              </a:lnSpc>
            </a:pPr>
            <a:r>
              <a:rPr lang="en-US" sz="2600" b="0" u="none" strike="noStrike">
                <a:solidFill>
                  <a:srgbClr val="543f3f"/>
                </a:solidFill>
                <a:effectLst/>
                <a:uFillTx/>
                <a:latin typeface="Montserrat"/>
                <a:ea typeface="Montserrat"/>
              </a:rPr>
              <a:t>{{contact_email}}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3"/>
          <p:cNvGrpSpPr/>
          <p:nvPr/>
        </p:nvGrpSpPr>
        <p:grpSpPr>
          <a:xfrm>
            <a:off x="787320" y="252360"/>
            <a:ext cx="20089440" cy="2763360"/>
            <a:chOff x="787320" y="252360"/>
            <a:chExt cx="20089440" cy="2763360"/>
          </a:xfrm>
        </p:grpSpPr>
        <p:sp>
          <p:nvSpPr>
            <p:cNvPr id="79" name="TextBox 3"/>
            <p:cNvSpPr/>
            <p:nvPr/>
          </p:nvSpPr>
          <p:spPr>
            <a:xfrm>
              <a:off x="839160" y="836280"/>
              <a:ext cx="14717880" cy="188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4"/>
            <p:cNvSpPr/>
            <p:nvPr/>
          </p:nvSpPr>
          <p:spPr>
            <a:xfrm>
              <a:off x="787320" y="252360"/>
              <a:ext cx="20089440" cy="276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470"/>
                </a:lnSpc>
              </a:pPr>
              <a:r>
                <a:rPr lang="en-US" sz="25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Garet"/>
                </a:rPr>
                <a:t>[[EXPERIENCE_BLOCK]]</a:t>
              </a:r>
              <a:endParaRPr lang="es-AR" sz="2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6236"/>
                </a:lnSpc>
              </a:pPr>
              <a:r>
                <a:rPr lang="en-US" sz="32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{{exp_6_role}}</a:t>
              </a:r>
              <a:r>
                <a:rPr lang="en-US" sz="2800" b="1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 Bold"/>
                </a:rPr>
                <a:t>  </a:t>
              </a:r>
              <a:r>
                <a:rPr lang="en-US" sz="2800" b="0" u="none" strike="noStrike">
                  <a:solidFill>
                    <a:srgbClr val="1e1e1e"/>
                  </a:solidFill>
                  <a:effectLst/>
                  <a:uFillTx/>
                  <a:latin typeface="Montserrat"/>
                  <a:ea typeface="Poppins"/>
                </a:rPr>
                <a:t>{{exp_6_company}}   {{exp_6_dates}}</a:t>
              </a: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6236"/>
                </a:lnSpc>
              </a:pPr>
              <a:r>
                <a:rPr lang="es-AR" sz="3200" b="0" u="none" strike="noStrike">
                  <a:solidFill>
                    <a:srgbClr val="000000"/>
                  </a:solidFill>
                  <a:effectLst/>
                  <a:uFillTx/>
                  <a:latin typeface="Montserrat"/>
                  <a:ea typeface="Montserrat"/>
                </a:rPr>
                <a:t>{{exp_6_bullets_block}}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819"/>
                </a:lnSpc>
              </a:pPr>
              <a:endPara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3172320" y="252360"/>
              <a:ext cx="12520080" cy="46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Group 7"/>
          <p:cNvGrpSpPr/>
          <p:nvPr/>
        </p:nvGrpSpPr>
        <p:grpSpPr>
          <a:xfrm>
            <a:off x="711360" y="19766880"/>
            <a:ext cx="19775160" cy="15480"/>
            <a:chOff x="711360" y="19766880"/>
            <a:chExt cx="19775160" cy="15480"/>
          </a:xfrm>
        </p:grpSpPr>
        <p:sp>
          <p:nvSpPr>
            <p:cNvPr id="83" name="Freeform 3"/>
            <p:cNvSpPr/>
            <p:nvPr/>
          </p:nvSpPr>
          <p:spPr>
            <a:xfrm>
              <a:off x="711360" y="19766880"/>
              <a:ext cx="19775160" cy="15480"/>
            </a:xfrm>
            <a:custGeom>
              <a:avLst/>
              <a:gdLst>
                <a:gd name="textAreaLeft" fmla="*/ 0 w 19775160"/>
                <a:gd name="textAreaRight" fmla="*/ 19786680 w 1977516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" name="Group 9"/>
          <p:cNvGrpSpPr/>
          <p:nvPr/>
        </p:nvGrpSpPr>
        <p:grpSpPr>
          <a:xfrm>
            <a:off x="731880" y="25231680"/>
            <a:ext cx="19845000" cy="15480"/>
            <a:chOff x="731880" y="25231680"/>
            <a:chExt cx="19845000" cy="15480"/>
          </a:xfrm>
        </p:grpSpPr>
        <p:sp>
          <p:nvSpPr>
            <p:cNvPr id="85" name="Freeform 10"/>
            <p:cNvSpPr/>
            <p:nvPr/>
          </p:nvSpPr>
          <p:spPr>
            <a:xfrm>
              <a:off x="731880" y="25231680"/>
              <a:ext cx="19845000" cy="15480"/>
            </a:xfrm>
            <a:custGeom>
              <a:avLst/>
              <a:gdLst>
                <a:gd name="textAreaLeft" fmla="*/ 0 w 19845000"/>
                <a:gd name="textAreaRight" fmla="*/ 19856520 w 1984500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11"/>
          <p:cNvSpPr/>
          <p:nvPr/>
        </p:nvSpPr>
        <p:spPr>
          <a:xfrm>
            <a:off x="720000" y="24399360"/>
            <a:ext cx="150930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CURSOS Y CAPACITACIONES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720000" y="25477200"/>
            <a:ext cx="1982232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13"/>
          <p:cNvSpPr/>
          <p:nvPr/>
        </p:nvSpPr>
        <p:spPr>
          <a:xfrm>
            <a:off x="720" y="30019320"/>
            <a:ext cx="21381480" cy="261360"/>
          </a:xfrm>
          <a:custGeom>
            <a:avLst/>
            <a:gdLst>
              <a:gd name="textAreaLeft" fmla="*/ 0 w 21381480"/>
              <a:gd name="textAreaRight" fmla="*/ 21393000 w 21381480"/>
              <a:gd name="textAreaTop" fmla="*/ 0 h 261360"/>
              <a:gd name="textAreaBottom" fmla="*/ 265680 h 261360"/>
            </a:gdLst>
            <a:ahLst/>
            <a:cxnLst/>
            <a:rect l="textAreaLeft" t="textAreaTop" r="textAreaRight" b="textAreaBottom"/>
            <a:pathLst>
              <a:path w="21392989" h="1219584">
                <a:moveTo>
                  <a:pt x="0" y="0"/>
                </a:moveTo>
                <a:lnTo>
                  <a:pt x="21392989" y="0"/>
                </a:lnTo>
                <a:lnTo>
                  <a:pt x="21392989" y="1219584"/>
                </a:lnTo>
                <a:lnTo>
                  <a:pt x="0" y="1219584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689040" y="19055160"/>
            <a:ext cx="197794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FORMACIÓN ACADÉMICA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785520" y="19756800"/>
            <a:ext cx="1973268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{{edu_1_degree}}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{{edu_1_school}}  {{edu_1_years}}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85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{{edu_2_degree}} </a:t>
            </a:r>
            <a:r>
              <a:rPr lang="en-US" sz="2300" b="1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 </a:t>
            </a:r>
            <a:r>
              <a:rPr lang="en-US" sz="2300" b="0" u="none" spc="40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{{edu_2_school}}  {{edu_2_years}}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"/>
          <p:cNvSpPr/>
          <p:nvPr/>
        </p:nvSpPr>
        <p:spPr>
          <a:xfrm>
            <a:off x="772200" y="25153200"/>
            <a:ext cx="1982232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402"/>
              </a:lnSpc>
              <a:buClr>
                <a:srgbClr val="000000"/>
              </a:buClr>
              <a:buSzPct val="30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"/>
              </a:rPr>
              <a:t>{{curso_3}}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1"/>
          <p:cNvGrpSpPr/>
          <p:nvPr/>
        </p:nvGrpSpPr>
        <p:grpSpPr>
          <a:xfrm>
            <a:off x="711360" y="21350880"/>
            <a:ext cx="19775160" cy="15480"/>
            <a:chOff x="711360" y="21350880"/>
            <a:chExt cx="19775160" cy="15480"/>
          </a:xfrm>
        </p:grpSpPr>
        <p:sp>
          <p:nvSpPr>
            <p:cNvPr id="93" name="Freeform 4"/>
            <p:cNvSpPr/>
            <p:nvPr/>
          </p:nvSpPr>
          <p:spPr>
            <a:xfrm>
              <a:off x="711360" y="21350880"/>
              <a:ext cx="19775160" cy="15480"/>
            </a:xfrm>
            <a:custGeom>
              <a:avLst/>
              <a:gdLst>
                <a:gd name="textAreaLeft" fmla="*/ 0 w 19775160"/>
                <a:gd name="textAreaRight" fmla="*/ 19786680 w 1977516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382218" h="35941">
                  <a:moveTo>
                    <a:pt x="0" y="0"/>
                  </a:moveTo>
                  <a:lnTo>
                    <a:pt x="26382218" y="0"/>
                  </a:lnTo>
                  <a:lnTo>
                    <a:pt x="2638221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TextBox 2"/>
          <p:cNvSpPr/>
          <p:nvPr/>
        </p:nvSpPr>
        <p:spPr>
          <a:xfrm>
            <a:off x="689040" y="20639160"/>
            <a:ext cx="1977948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INFORMATICA E IDIOMAS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317520" y="21435120"/>
            <a:ext cx="19732680" cy="30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40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3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 </a:t>
            </a:r>
            <a:endParaRPr lang="es-A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6" name="Group 5"/>
          <p:cNvGrpSpPr/>
          <p:nvPr/>
        </p:nvGrpSpPr>
        <p:grpSpPr>
          <a:xfrm>
            <a:off x="731880" y="27140040"/>
            <a:ext cx="19845000" cy="15480"/>
            <a:chOff x="731880" y="27140040"/>
            <a:chExt cx="19845000" cy="15480"/>
          </a:xfrm>
        </p:grpSpPr>
        <p:sp>
          <p:nvSpPr>
            <p:cNvPr id="97" name="Freeform 7"/>
            <p:cNvSpPr/>
            <p:nvPr/>
          </p:nvSpPr>
          <p:spPr>
            <a:xfrm>
              <a:off x="731880" y="27140040"/>
              <a:ext cx="19845000" cy="15480"/>
            </a:xfrm>
            <a:custGeom>
              <a:avLst/>
              <a:gdLst>
                <a:gd name="textAreaLeft" fmla="*/ 0 w 19845000"/>
                <a:gd name="textAreaRight" fmla="*/ 19856520 w 1984500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6475183" h="35941">
                  <a:moveTo>
                    <a:pt x="0" y="0"/>
                  </a:moveTo>
                  <a:lnTo>
                    <a:pt x="26475183" y="0"/>
                  </a:lnTo>
                  <a:lnTo>
                    <a:pt x="26475183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6244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TextBox 7"/>
          <p:cNvSpPr/>
          <p:nvPr/>
        </p:nvSpPr>
        <p:spPr>
          <a:xfrm>
            <a:off x="720000" y="26307720"/>
            <a:ext cx="150930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56"/>
              </a:lnSpc>
            </a:pPr>
            <a:r>
              <a:rPr lang="en-US" sz="4180" b="1" u="none" strike="noStrike">
                <a:solidFill>
                  <a:srgbClr val="343434"/>
                </a:solidFill>
                <a:effectLst/>
                <a:uFillTx/>
                <a:latin typeface="Montserrat"/>
                <a:ea typeface="Montserrat Bold"/>
              </a:rPr>
              <a:t>COMPETENCIAS</a:t>
            </a:r>
            <a:endParaRPr lang="es-AR" sz="4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720000" y="27385560"/>
            <a:ext cx="1982232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772200" y="27169560"/>
            <a:ext cx="19822320" cy="33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Montserrat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9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DAG9kkGcXe8</dc:identifier>
  <dc:language>es-AR</dc:language>
  <cp:lastModifiedBy/>
  <dcterms:modified xsi:type="dcterms:W3CDTF">2026-03-09T00:13:55Z</dcterms:modified>
  <cp:revision>43</cp:revision>
  <dc:subject/>
  <dc:title>Plantilla_oficial_13.pptx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